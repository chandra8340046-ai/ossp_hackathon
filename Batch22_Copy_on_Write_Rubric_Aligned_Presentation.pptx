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4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685800"/>
            <a:ext cx="66751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100" b="1" i="0">
                <a:solidFill>
                  <a:srgbClr val="34D3E6"/>
                </a:solidFill>
                <a:latin typeface="Aptos"/>
              </a:defRPr>
            </a:pPr>
            <a:r>
              <a:t>OPERATING SYSTEMS  | 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7040880" cy="1508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3100" b="1" i="0">
                <a:solidFill>
                  <a:srgbClr val="F5F8FD"/>
                </a:solidFill>
                <a:latin typeface="Aptos"/>
              </a:defRPr>
            </a:pPr>
            <a:r>
              <a:t>COPY-ON-WRITE</a:t>
            </a:r>
          </a:p>
          <a:p>
            <a:pPr algn="l">
              <a:spcAft>
                <a:spcPts val="500"/>
              </a:spcAft>
              <a:defRPr sz="3100" b="1" i="0">
                <a:solidFill>
                  <a:srgbClr val="F5F8FD"/>
                </a:solidFill>
                <a:latin typeface="Aptos"/>
              </a:defRPr>
            </a:pPr>
            <a:r>
              <a:t>MEMORY DEMONSTRATOR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54680"/>
            <a:ext cx="6492240" cy="5943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700" b="0" i="0">
                <a:solidFill>
                  <a:srgbClr val="66E6B4"/>
                </a:solidFill>
                <a:latin typeface="Aptos"/>
              </a:defRPr>
            </a:pPr>
            <a:r>
              <a:t>A visual demonstration of memory sharing and page copying in Linux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160520"/>
            <a:ext cx="1325880" cy="384048"/>
          </a:xfrm>
          <a:prstGeom prst="roundRect">
            <a:avLst/>
          </a:prstGeom>
          <a:solidFill>
            <a:srgbClr val="1F314E"/>
          </a:solidFill>
          <a:ln w="12700">
            <a:solidFill>
              <a:srgbClr val="34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4215383"/>
            <a:ext cx="13258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34D3E6"/>
                </a:solidFill>
                <a:latin typeface="Aptos"/>
              </a:defRPr>
            </a:pPr>
            <a:r>
              <a:t>BATCH 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4160520"/>
            <a:ext cx="1965960" cy="384048"/>
          </a:xfrm>
          <a:prstGeom prst="roundRect">
            <a:avLst/>
          </a:prstGeom>
          <a:solidFill>
            <a:srgbClr val="1F314E"/>
          </a:solidFill>
          <a:ln w="12700">
            <a:solidFill>
              <a:srgbClr val="66E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86000" y="4215383"/>
            <a:ext cx="19659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000" b="1" i="0">
                <a:solidFill>
                  <a:srgbClr val="66E6B4"/>
                </a:solidFill>
                <a:latin typeface="Aptos"/>
              </a:defRPr>
            </a:pPr>
            <a:r>
              <a:t>RUBRIC-ALIGNED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074920"/>
            <a:ext cx="676656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AEBED4"/>
                </a:solidFill>
                <a:latin typeface="Aptos"/>
              </a:defRPr>
            </a:pPr>
            <a:r>
              <a:t>TEAM MEMBERS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440680"/>
            <a:ext cx="7680960" cy="3416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F5F8FD"/>
                </a:solidFill>
                <a:latin typeface="Aptos"/>
              </a:defRPr>
            </a:pPr>
            <a:r>
              <a:rPr dirty="0"/>
              <a:t>Navaneeth  •  Chaitanya  •  </a:t>
            </a:r>
            <a:r>
              <a:rPr lang="en-US" dirty="0"/>
              <a:t>T  Sai </a:t>
            </a:r>
            <a:r>
              <a:rPr lang="en-US"/>
              <a:t>krishna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989320"/>
            <a:ext cx="694944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900" b="0" i="1">
                <a:solidFill>
                  <a:srgbClr val="FFC266"/>
                </a:solidFill>
                <a:latin typeface="Aptos"/>
              </a:defRPr>
            </a:pPr>
            <a:r>
              <a:t>Replace the GitHub placeholder before final submission.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508760"/>
            <a:ext cx="1234440" cy="914400"/>
          </a:xfrm>
          <a:prstGeom prst="roundRect">
            <a:avLst/>
          </a:prstGeom>
          <a:solidFill>
            <a:srgbClr val="16243D"/>
          </a:solidFill>
          <a:ln w="25400">
            <a:solidFill>
              <a:srgbClr val="34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0" y="1801368"/>
            <a:ext cx="123444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100" b="1" i="0">
                <a:solidFill>
                  <a:srgbClr val="34D3E6"/>
                </a:solidFill>
                <a:latin typeface="Aptos"/>
              </a:defRPr>
            </a:pPr>
            <a:r>
              <a:t>PARENT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29800" y="1508760"/>
            <a:ext cx="1234440" cy="914400"/>
          </a:xfrm>
          <a:prstGeom prst="roundRect">
            <a:avLst/>
          </a:prstGeom>
          <a:solidFill>
            <a:srgbClr val="16243D"/>
          </a:solidFill>
          <a:ln w="25400">
            <a:solidFill>
              <a:srgbClr val="66E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829800" y="1801368"/>
            <a:ext cx="123444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100" b="1" i="0">
                <a:solidFill>
                  <a:srgbClr val="66E6B4"/>
                </a:solidFill>
                <a:latin typeface="Aptos"/>
              </a:defRPr>
            </a:pPr>
            <a:r>
              <a:t>CHILD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2926080"/>
            <a:ext cx="1234440" cy="914400"/>
          </a:xfrm>
          <a:prstGeom prst="roundRect">
            <a:avLst/>
          </a:prstGeom>
          <a:solidFill>
            <a:srgbClr val="16243D"/>
          </a:solidFill>
          <a:ln w="25400">
            <a:solidFill>
              <a:srgbClr val="FFC2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0" y="3218688"/>
            <a:ext cx="123444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100" b="1" i="0">
                <a:solidFill>
                  <a:srgbClr val="FFC266"/>
                </a:solidFill>
                <a:latin typeface="Aptos"/>
              </a:defRPr>
            </a:pPr>
            <a:r>
              <a:t>SHARED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29800" y="2926080"/>
            <a:ext cx="1234440" cy="914400"/>
          </a:xfrm>
          <a:prstGeom prst="roundRect">
            <a:avLst/>
          </a:prstGeom>
          <a:solidFill>
            <a:srgbClr val="16243D"/>
          </a:solidFill>
          <a:ln w="25400">
            <a:solidFill>
              <a:srgbClr val="FF77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29800" y="3218688"/>
            <a:ext cx="123444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100" b="1" i="0">
                <a:solidFill>
                  <a:srgbClr val="FF7797"/>
                </a:solidFill>
                <a:latin typeface="Aptos"/>
              </a:defRPr>
            </a:pPr>
            <a:r>
              <a:t>COPY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823960" y="2423160"/>
            <a:ext cx="0" cy="365760"/>
          </a:xfrm>
          <a:prstGeom prst="line">
            <a:avLst/>
          </a:prstGeom>
          <a:ln w="25400">
            <a:solidFill>
              <a:srgbClr val="374B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442448" y="2423160"/>
            <a:ext cx="0" cy="365760"/>
          </a:xfrm>
          <a:prstGeom prst="line">
            <a:avLst/>
          </a:prstGeom>
          <a:ln w="25400">
            <a:solidFill>
              <a:srgbClr val="374B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03504" y="6510528"/>
            <a:ext cx="978408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800" b="1" i="0">
                <a:solidFill>
                  <a:srgbClr val="AEBED4"/>
                </a:solidFill>
                <a:latin typeface="Aptos"/>
              </a:defRPr>
            </a:pPr>
            <a:r>
              <a:t>BATCH 22  |  OPERATING SYSTEMS PROJECT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34D3E6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4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789920" cy="2377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900" b="1" i="0">
                <a:solidFill>
                  <a:srgbClr val="34D3E6"/>
                </a:solidFill>
                <a:latin typeface="Aptos"/>
              </a:defRPr>
            </a:pPr>
            <a:r>
              <a:t>ASSESSMENT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760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2800" b="1" i="0">
                <a:solidFill>
                  <a:srgbClr val="F5F8FD"/>
                </a:solidFill>
                <a:latin typeface="Aptos"/>
              </a:defRPr>
            </a:pPr>
            <a:r>
              <a:t>All evaluation rubrics are addressed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25296"/>
            <a:ext cx="10698480" cy="3931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AEBED4"/>
                </a:solidFill>
                <a:latin typeface="Aptos"/>
              </a:defRPr>
            </a:pPr>
            <a:r>
              <a:t>The presentation is organized to map directly to the supplied 100-point marking scheme.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83080"/>
            <a:ext cx="5166360" cy="621792"/>
          </a:xfrm>
          <a:prstGeom prst="roundRect">
            <a:avLst/>
          </a:prstGeom>
          <a:solidFill>
            <a:srgbClr val="16243D"/>
          </a:solidFill>
          <a:ln>
            <a:solidFill>
              <a:srgbClr val="374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1929384"/>
            <a:ext cx="3977639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F5F8FD"/>
                </a:solidFill>
                <a:latin typeface="Aptos"/>
              </a:defRPr>
            </a:pPr>
            <a:r>
              <a:t>Problem Definition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911095"/>
            <a:ext cx="658368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1400" b="1" i="0">
                <a:solidFill>
                  <a:srgbClr val="34D3E6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783080"/>
            <a:ext cx="5166360" cy="621792"/>
          </a:xfrm>
          <a:prstGeom prst="roundRect">
            <a:avLst/>
          </a:prstGeom>
          <a:solidFill>
            <a:srgbClr val="16243D"/>
          </a:solidFill>
          <a:ln>
            <a:solidFill>
              <a:srgbClr val="374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65392" y="1929384"/>
            <a:ext cx="3977639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F5F8FD"/>
                </a:solidFill>
                <a:latin typeface="Aptos"/>
              </a:defRPr>
            </a:pPr>
            <a:r>
              <a:t>Novelty &amp; Innovation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1911095"/>
            <a:ext cx="658368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1400" b="1" i="0">
                <a:solidFill>
                  <a:srgbClr val="66E6B4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624328"/>
            <a:ext cx="5166360" cy="621792"/>
          </a:xfrm>
          <a:prstGeom prst="roundRect">
            <a:avLst/>
          </a:prstGeom>
          <a:solidFill>
            <a:srgbClr val="16243D"/>
          </a:solidFill>
          <a:ln>
            <a:solidFill>
              <a:srgbClr val="374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41832" y="2770632"/>
            <a:ext cx="3977639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F5F8FD"/>
                </a:solidFill>
                <a:latin typeface="Aptos"/>
              </a:defRPr>
            </a:pPr>
            <a:r>
              <a:t>Architecture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752344"/>
            <a:ext cx="658368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1400" b="1" i="0">
                <a:solidFill>
                  <a:srgbClr val="FFC266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624328"/>
            <a:ext cx="5166360" cy="621792"/>
          </a:xfrm>
          <a:prstGeom prst="roundRect">
            <a:avLst/>
          </a:prstGeom>
          <a:solidFill>
            <a:srgbClr val="16243D"/>
          </a:solidFill>
          <a:ln>
            <a:solidFill>
              <a:srgbClr val="374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65392" y="2770632"/>
            <a:ext cx="3977639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F5F8FD"/>
                </a:solidFill>
                <a:latin typeface="Aptos"/>
              </a:defRPr>
            </a:pPr>
            <a:r>
              <a:t>Implementation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52760" y="2752344"/>
            <a:ext cx="658368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1400" b="1" i="0">
                <a:solidFill>
                  <a:srgbClr val="FF7797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465576"/>
            <a:ext cx="5166360" cy="621792"/>
          </a:xfrm>
          <a:prstGeom prst="roundRect">
            <a:avLst/>
          </a:prstGeom>
          <a:solidFill>
            <a:srgbClr val="16243D"/>
          </a:solidFill>
          <a:ln>
            <a:solidFill>
              <a:srgbClr val="374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1832" y="3611880"/>
            <a:ext cx="3977639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F5F8FD"/>
                </a:solidFill>
                <a:latin typeface="Aptos"/>
              </a:defRPr>
            </a:pPr>
            <a:r>
              <a:t>Testing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593592"/>
            <a:ext cx="658368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1400" b="1" i="0">
                <a:solidFill>
                  <a:srgbClr val="34D3E6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465576"/>
            <a:ext cx="5166360" cy="621792"/>
          </a:xfrm>
          <a:prstGeom prst="roundRect">
            <a:avLst/>
          </a:prstGeom>
          <a:solidFill>
            <a:srgbClr val="16243D"/>
          </a:solidFill>
          <a:ln>
            <a:solidFill>
              <a:srgbClr val="374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65392" y="3611880"/>
            <a:ext cx="3977639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F5F8FD"/>
                </a:solidFill>
                <a:latin typeface="Aptos"/>
              </a:defRPr>
            </a:pPr>
            <a:r>
              <a:t>Documentation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52760" y="3593592"/>
            <a:ext cx="658368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1400" b="1" i="0">
                <a:solidFill>
                  <a:srgbClr val="66E6B4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306824"/>
            <a:ext cx="5166360" cy="621792"/>
          </a:xfrm>
          <a:prstGeom prst="roundRect">
            <a:avLst/>
          </a:prstGeom>
          <a:solidFill>
            <a:srgbClr val="16243D"/>
          </a:solidFill>
          <a:ln>
            <a:solidFill>
              <a:srgbClr val="374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1832" y="4453128"/>
            <a:ext cx="3977639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F5F8FD"/>
                </a:solidFill>
                <a:latin typeface="Aptos"/>
              </a:defRPr>
            </a:pPr>
            <a:r>
              <a:t>GitHub Repository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4434840"/>
            <a:ext cx="658368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1400" b="1" i="0">
                <a:solidFill>
                  <a:srgbClr val="FFC266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4306824"/>
            <a:ext cx="5166360" cy="621792"/>
          </a:xfrm>
          <a:prstGeom prst="roundRect">
            <a:avLst/>
          </a:prstGeom>
          <a:solidFill>
            <a:srgbClr val="16243D"/>
          </a:solidFill>
          <a:ln>
            <a:solidFill>
              <a:srgbClr val="374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65392" y="4453128"/>
            <a:ext cx="3977639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F5F8FD"/>
                </a:solidFill>
                <a:latin typeface="Aptos"/>
              </a:defRPr>
            </a:pPr>
            <a:r>
              <a:t>Presentation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52760" y="4434840"/>
            <a:ext cx="658368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1400" b="1" i="0">
                <a:solidFill>
                  <a:srgbClr val="FF7797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5148072"/>
            <a:ext cx="5166360" cy="621792"/>
          </a:xfrm>
          <a:prstGeom prst="roundRect">
            <a:avLst/>
          </a:prstGeom>
          <a:solidFill>
            <a:srgbClr val="16243D"/>
          </a:solidFill>
          <a:ln>
            <a:solidFill>
              <a:srgbClr val="374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41832" y="5294376"/>
            <a:ext cx="3977639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F5F8FD"/>
                </a:solidFill>
                <a:latin typeface="Aptos"/>
              </a:defRPr>
            </a:pPr>
            <a:r>
              <a:t>Teamwork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5276088"/>
            <a:ext cx="658368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1400" b="1" i="0">
                <a:solidFill>
                  <a:srgbClr val="34D3E6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5148072"/>
            <a:ext cx="5166360" cy="621792"/>
          </a:xfrm>
          <a:prstGeom prst="roundRect">
            <a:avLst/>
          </a:prstGeom>
          <a:solidFill>
            <a:srgbClr val="16243D"/>
          </a:solidFill>
          <a:ln>
            <a:solidFill>
              <a:srgbClr val="374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65392" y="5294376"/>
            <a:ext cx="3977639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300" b="1" i="0">
                <a:solidFill>
                  <a:srgbClr val="F5F8FD"/>
                </a:solidFill>
                <a:latin typeface="Aptos"/>
              </a:defRPr>
            </a:pPr>
            <a:r>
              <a:t>Business Impact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52760" y="5276088"/>
            <a:ext cx="658368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1400" b="1" i="0">
                <a:solidFill>
                  <a:srgbClr val="66E6B4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0" y="6080760"/>
            <a:ext cx="21945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1100" b="1" i="0">
                <a:solidFill>
                  <a:srgbClr val="34D3E6"/>
                </a:solidFill>
                <a:latin typeface="Aptos"/>
              </a:defRPr>
            </a:pPr>
            <a:r>
              <a:t>TOTAL: 100 MARKS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3504" y="6510528"/>
            <a:ext cx="978408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800" b="1" i="0">
                <a:solidFill>
                  <a:srgbClr val="AEBED4"/>
                </a:solidFill>
                <a:latin typeface="Aptos"/>
              </a:defRPr>
            </a:pPr>
            <a:r>
              <a:t>BATCH 22  |  OPERATING SYSTEMS PROJECT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34D3E6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4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789920" cy="2377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900" b="1" i="0">
                <a:solidFill>
                  <a:srgbClr val="34D3E6"/>
                </a:solidFill>
                <a:latin typeface="Aptos"/>
              </a:defRPr>
            </a:pPr>
            <a:r>
              <a:t>RUBRIC 1 | 10 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760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2800" b="1" i="0">
                <a:solidFill>
                  <a:srgbClr val="F5F8FD"/>
                </a:solidFill>
                <a:latin typeface="Aptos"/>
              </a:defRPr>
            </a:pPr>
            <a:r>
              <a:t>Problem 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25296"/>
            <a:ext cx="10698480" cy="3931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AEBED4"/>
                </a:solidFill>
                <a:latin typeface="Aptos"/>
              </a:defRPr>
            </a:pPr>
            <a:r>
              <a:t>What inefficiency does Copy-on-Write address?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474720" cy="2377440"/>
          </a:xfrm>
          <a:prstGeom prst="roundRect">
            <a:avLst/>
          </a:prstGeom>
          <a:solidFill>
            <a:srgbClr val="16243D"/>
          </a:solidFill>
          <a:ln w="12700">
            <a:solidFill>
              <a:srgbClr val="374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975104"/>
            <a:ext cx="3145536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FF7797"/>
                </a:solidFill>
                <a:latin typeface="Aptos"/>
              </a:defRPr>
            </a:pPr>
            <a:r>
              <a:t>CURRENT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395728"/>
            <a:ext cx="3145536" cy="16824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F5F8FD"/>
                </a:solidFill>
                <a:latin typeface="Aptos"/>
              </a:defRPr>
            </a:pPr>
            <a:r>
              <a:t>When a process is created, copying all of its memory immediately may consume extra time and memory—even if many pages are never modified.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828800"/>
            <a:ext cx="3474720" cy="2377440"/>
          </a:xfrm>
          <a:prstGeom prst="roundRect">
            <a:avLst/>
          </a:prstGeom>
          <a:solidFill>
            <a:srgbClr val="16243D"/>
          </a:solidFill>
          <a:ln w="12700">
            <a:solidFill>
              <a:srgbClr val="374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5424" y="1975104"/>
            <a:ext cx="3145536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34D3E6"/>
                </a:solidFill>
                <a:latin typeface="Aptos"/>
              </a:defRPr>
            </a:pPr>
            <a:r>
              <a:t>PROJECT 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2395728"/>
            <a:ext cx="3145536" cy="16824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F5F8FD"/>
                </a:solidFill>
                <a:latin typeface="Aptos"/>
              </a:defRPr>
            </a:pPr>
            <a:r>
              <a:t>How can we demonstrate that parent and child processes can initially share memory pages, while changes remain isolated?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1828800"/>
            <a:ext cx="3474720" cy="2377440"/>
          </a:xfrm>
          <a:prstGeom prst="roundRect">
            <a:avLst/>
          </a:prstGeom>
          <a:solidFill>
            <a:srgbClr val="16243D"/>
          </a:solidFill>
          <a:ln w="12700">
            <a:solidFill>
              <a:srgbClr val="374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0" y="1975104"/>
            <a:ext cx="3145536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66E6B4"/>
                </a:solidFill>
                <a:latin typeface="Aptos"/>
              </a:defRPr>
            </a:pPr>
            <a:r>
              <a:t>PROJECT OBJECTIVE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395728"/>
            <a:ext cx="3145536" cy="16824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F5F8FD"/>
                </a:solidFill>
                <a:latin typeface="Aptos"/>
              </a:defRPr>
            </a:pPr>
            <a:r>
              <a:t>Build a clear demonstration that explains the shared state, write operation, and separate process values after modification.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92040"/>
            <a:ext cx="10241280" cy="6858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300" b="0" i="0">
                <a:solidFill>
                  <a:srgbClr val="AEBED4"/>
                </a:solidFill>
                <a:latin typeface="Aptos"/>
              </a:defRPr>
            </a:pPr>
            <a:r>
              <a:t>Scope: educational demonstrator of Linux process memory behavior—not a replacement for the operating system's memory manager.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" y="6510528"/>
            <a:ext cx="978408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800" b="1" i="0">
                <a:solidFill>
                  <a:srgbClr val="AEBED4"/>
                </a:solidFill>
                <a:latin typeface="Aptos"/>
              </a:defRPr>
            </a:pPr>
            <a:r>
              <a:t>BATCH 22  |  OPERATING SYSTEMS PROJECT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34D3E6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4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789920" cy="2377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900" b="1" i="0">
                <a:solidFill>
                  <a:srgbClr val="34D3E6"/>
                </a:solidFill>
                <a:latin typeface="Aptos"/>
              </a:defRPr>
            </a:pPr>
            <a:r>
              <a:t>RUBRIC 2 | 15 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760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2800" b="1" i="0">
                <a:solidFill>
                  <a:srgbClr val="F5F8FD"/>
                </a:solidFill>
                <a:latin typeface="Aptos"/>
              </a:defRPr>
            </a:pPr>
            <a:r>
              <a:t>Novelty and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25296"/>
            <a:ext cx="10698480" cy="3931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AEBED4"/>
                </a:solidFill>
                <a:latin typeface="Aptos"/>
              </a:defRPr>
            </a:pPr>
            <a:r>
              <a:t>The innovation is in making an invisible operating-system behavior easy to understand.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29000" cy="2423160"/>
          </a:xfrm>
          <a:prstGeom prst="roundRect">
            <a:avLst/>
          </a:prstGeom>
          <a:solidFill>
            <a:srgbClr val="16243D"/>
          </a:solidFill>
          <a:ln w="12700">
            <a:solidFill>
              <a:srgbClr val="374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975104"/>
            <a:ext cx="3099816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34D3E6"/>
                </a:solidFill>
                <a:latin typeface="Aptos"/>
              </a:defRPr>
            </a:pPr>
            <a:r>
              <a:t>VISUAL 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395728"/>
            <a:ext cx="3099816" cy="172821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F5F8FD"/>
                </a:solidFill>
                <a:latin typeface="Aptos"/>
              </a:defRPr>
            </a:pPr>
            <a:r>
              <a:t>Represent parent, child, shared page and private copy as clear visual states.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429000" cy="2423160"/>
          </a:xfrm>
          <a:prstGeom prst="roundRect">
            <a:avLst/>
          </a:prstGeom>
          <a:solidFill>
            <a:srgbClr val="16243D"/>
          </a:solidFill>
          <a:ln w="12700">
            <a:solidFill>
              <a:srgbClr val="374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53712" y="1975104"/>
            <a:ext cx="3099816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66E6B4"/>
                </a:solidFill>
                <a:latin typeface="Aptos"/>
              </a:defRPr>
            </a:pPr>
            <a:r>
              <a:t>BEFORE / AFTER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395728"/>
            <a:ext cx="3099816" cy="172821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F5F8FD"/>
                </a:solidFill>
                <a:latin typeface="Aptos"/>
              </a:defRPr>
            </a:pPr>
            <a:r>
              <a:t>Show the values before the write and compare them after the child changes its value.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429000" cy="2423160"/>
          </a:xfrm>
          <a:prstGeom prst="roundRect">
            <a:avLst/>
          </a:prstGeom>
          <a:solidFill>
            <a:srgbClr val="16243D"/>
          </a:solidFill>
          <a:ln w="12700">
            <a:solidFill>
              <a:srgbClr val="374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11312" y="1975104"/>
            <a:ext cx="3099816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FFC266"/>
                </a:solidFill>
                <a:latin typeface="Aptos"/>
              </a:defRPr>
            </a:pPr>
            <a:r>
              <a:t>LEARNING BY DOING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2395728"/>
            <a:ext cx="3099816" cy="172821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F5F8FD"/>
                </a:solidFill>
                <a:latin typeface="Aptos"/>
              </a:defRPr>
            </a:pPr>
            <a:r>
              <a:t>Allow a presenter to explain the sequence step by step instead of relying only on theory.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92040"/>
            <a:ext cx="10332720" cy="5943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200" b="0" i="0">
                <a:solidFill>
                  <a:srgbClr val="AEBED4"/>
                </a:solidFill>
                <a:latin typeface="Aptos"/>
              </a:defRPr>
            </a:pPr>
            <a:r>
              <a:t>Novelty claim: an accessible teaching interface for illustrating COW—not a claim that the underlying COW technique is new.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" y="6510528"/>
            <a:ext cx="978408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800" b="1" i="0">
                <a:solidFill>
                  <a:srgbClr val="AEBED4"/>
                </a:solidFill>
                <a:latin typeface="Aptos"/>
              </a:defRPr>
            </a:pPr>
            <a:r>
              <a:t>BATCH 22  |  OPERATING SYSTEMS PROJECT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34D3E6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4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789920" cy="2377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900" b="1" i="0">
                <a:solidFill>
                  <a:srgbClr val="34D3E6"/>
                </a:solidFill>
                <a:latin typeface="Aptos"/>
              </a:defRPr>
            </a:pPr>
            <a:r>
              <a:t>RUBRIC 3 | 10 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760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2800" b="1" i="0">
                <a:solidFill>
                  <a:srgbClr val="F5F8FD"/>
                </a:solidFill>
                <a:latin typeface="Aptos"/>
              </a:defRPr>
            </a:pPr>
            <a:r>
              <a:t>Architecture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25296"/>
            <a:ext cx="10698480" cy="3931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AEBED4"/>
                </a:solidFill>
                <a:latin typeface="Aptos"/>
              </a:defRPr>
            </a:pPr>
            <a:r>
              <a:t>A small, modular design keeps the demonstration understandable.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148840" cy="914400"/>
          </a:xfrm>
          <a:prstGeom prst="roundRect">
            <a:avLst/>
          </a:prstGeom>
          <a:solidFill>
            <a:srgbClr val="16243D"/>
          </a:solidFill>
          <a:ln w="21590">
            <a:solidFill>
              <a:srgbClr val="34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2395727"/>
            <a:ext cx="2002536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200" b="1" i="0">
                <a:solidFill>
                  <a:srgbClr val="34D3E6"/>
                </a:solidFill>
                <a:latin typeface="Aptos"/>
              </a:defRPr>
            </a:pPr>
            <a:r>
              <a:t>USER / PRESENTER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2103120"/>
            <a:ext cx="2148840" cy="914400"/>
          </a:xfrm>
          <a:prstGeom prst="roundRect">
            <a:avLst/>
          </a:prstGeom>
          <a:solidFill>
            <a:srgbClr val="16243D"/>
          </a:solidFill>
          <a:ln w="21590">
            <a:solidFill>
              <a:srgbClr val="66E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30752" y="2395727"/>
            <a:ext cx="2002536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200" b="1" i="0">
                <a:solidFill>
                  <a:srgbClr val="66E6B4"/>
                </a:solidFill>
                <a:latin typeface="Aptos"/>
              </a:defRPr>
            </a:pPr>
            <a:r>
              <a:t>DEMO INTERFACE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103120"/>
            <a:ext cx="2148840" cy="914400"/>
          </a:xfrm>
          <a:prstGeom prst="roundRect">
            <a:avLst/>
          </a:prstGeom>
          <a:solidFill>
            <a:srgbClr val="16243D"/>
          </a:solidFill>
          <a:ln w="21590">
            <a:solidFill>
              <a:srgbClr val="FFC2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65392" y="2395727"/>
            <a:ext cx="2002536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200" b="1" i="0">
                <a:solidFill>
                  <a:srgbClr val="FFC266"/>
                </a:solidFill>
                <a:latin typeface="Aptos"/>
              </a:defRPr>
            </a:pPr>
            <a:r>
              <a:t>C PROGRAM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2103120"/>
            <a:ext cx="2148840" cy="914400"/>
          </a:xfrm>
          <a:prstGeom prst="roundRect">
            <a:avLst/>
          </a:prstGeom>
          <a:solidFill>
            <a:srgbClr val="16243D"/>
          </a:solidFill>
          <a:ln w="21590">
            <a:solidFill>
              <a:srgbClr val="FF77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17152" y="2395727"/>
            <a:ext cx="2002536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200" b="1" i="0">
                <a:solidFill>
                  <a:srgbClr val="FF7797"/>
                </a:solidFill>
                <a:latin typeface="Aptos"/>
              </a:defRPr>
            </a:pPr>
            <a:r>
              <a:t>LINUX KERNEL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971800" y="2560320"/>
            <a:ext cx="685800" cy="0"/>
          </a:xfrm>
          <a:prstGeom prst="line">
            <a:avLst/>
          </a:prstGeom>
          <a:ln w="25400">
            <a:solidFill>
              <a:srgbClr val="34D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806440" y="2560320"/>
            <a:ext cx="685800" cy="0"/>
          </a:xfrm>
          <a:prstGeom prst="line">
            <a:avLst/>
          </a:prstGeom>
          <a:ln w="25400">
            <a:solidFill>
              <a:srgbClr val="66E6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641080" y="2560320"/>
            <a:ext cx="502920" cy="0"/>
          </a:xfrm>
          <a:prstGeom prst="line">
            <a:avLst/>
          </a:prstGeom>
          <a:ln w="25400">
            <a:solidFill>
              <a:srgbClr val="FFC2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14400" y="3840480"/>
            <a:ext cx="3108960" cy="1234440"/>
          </a:xfrm>
          <a:prstGeom prst="roundRect">
            <a:avLst/>
          </a:prstGeom>
          <a:solidFill>
            <a:srgbClr val="16243D"/>
          </a:solidFill>
          <a:ln w="12700">
            <a:solidFill>
              <a:srgbClr val="374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78992" y="3986784"/>
            <a:ext cx="2779776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34D3E6"/>
                </a:solidFill>
                <a:latin typeface="Aptos"/>
              </a:defRPr>
            </a:pPr>
            <a:r>
              <a:t>INPUT / 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4407408"/>
            <a:ext cx="2779776" cy="5394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F5F8FD"/>
                </a:solidFill>
                <a:latin typeface="Aptos"/>
              </a:defRPr>
            </a:pPr>
            <a:r>
              <a:t>Start demo; trigger or explain a write.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26280" y="3840480"/>
            <a:ext cx="3108960" cy="1234440"/>
          </a:xfrm>
          <a:prstGeom prst="roundRect">
            <a:avLst/>
          </a:prstGeom>
          <a:solidFill>
            <a:srgbClr val="16243D"/>
          </a:solidFill>
          <a:ln w="12700">
            <a:solidFill>
              <a:srgbClr val="374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90872" y="3986784"/>
            <a:ext cx="2779776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66E6B4"/>
                </a:solidFill>
                <a:latin typeface="Aptos"/>
              </a:defRPr>
            </a:pPr>
            <a:r>
              <a:t>PROCESS LOGIC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90872" y="4407408"/>
            <a:ext cx="2779776" cy="5394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F5F8FD"/>
                </a:solidFill>
                <a:latin typeface="Aptos"/>
              </a:defRPr>
            </a:pPr>
            <a:r>
              <a:t>Use fork() and print process-local values.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3840480"/>
            <a:ext cx="3108960" cy="1234440"/>
          </a:xfrm>
          <a:prstGeom prst="roundRect">
            <a:avLst/>
          </a:prstGeom>
          <a:solidFill>
            <a:srgbClr val="16243D"/>
          </a:solidFill>
          <a:ln w="12700">
            <a:solidFill>
              <a:srgbClr val="374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02752" y="3986784"/>
            <a:ext cx="2779776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FFC266"/>
                </a:solidFill>
                <a:latin typeface="Aptos"/>
              </a:defRPr>
            </a:pPr>
            <a:r>
              <a:t>OBSERVED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4407408"/>
            <a:ext cx="2779776" cy="5394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F5F8FD"/>
                </a:solidFill>
                <a:latin typeface="Aptos"/>
              </a:defRPr>
            </a:pPr>
            <a:r>
              <a:t>Compare parent and child values.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532120"/>
            <a:ext cx="102412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100" b="0" i="0">
                <a:solidFill>
                  <a:srgbClr val="AEBED4"/>
                </a:solidFill>
                <a:latin typeface="Aptos"/>
              </a:defRPr>
            </a:pPr>
            <a:r>
              <a:t>The UI is optional; the core demonstration can run in a Linux terminal.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" y="6510528"/>
            <a:ext cx="978408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800" b="1" i="0">
                <a:solidFill>
                  <a:srgbClr val="AEBED4"/>
                </a:solidFill>
                <a:latin typeface="Aptos"/>
              </a:defRPr>
            </a:pPr>
            <a:r>
              <a:t>BATCH 22  |  OPERATING SYSTEMS PROJECT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34D3E6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4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789920" cy="2377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900" b="1" i="0">
                <a:solidFill>
                  <a:srgbClr val="34D3E6"/>
                </a:solidFill>
                <a:latin typeface="Aptos"/>
              </a:defRPr>
            </a:pPr>
            <a:r>
              <a:t>RUBRIC 4 | 20 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760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2800" b="1" i="0">
                <a:solidFill>
                  <a:srgbClr val="F5F8FD"/>
                </a:solidFill>
                <a:latin typeface="Aptos"/>
              </a:defRPr>
            </a:pPr>
            <a: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25296"/>
            <a:ext cx="10698480" cy="3931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AEBED4"/>
                </a:solidFill>
                <a:latin typeface="Aptos"/>
              </a:defRPr>
            </a:pPr>
            <a:r>
              <a:t>Core implementation uses C and Linux process creation.</a:t>
            </a:r>
          </a:p>
        </p:txBody>
      </p:sp>
      <p:sp>
        <p:nvSpPr>
          <p:cNvPr id="6" name="Oval 5"/>
          <p:cNvSpPr/>
          <p:nvPr/>
        </p:nvSpPr>
        <p:spPr>
          <a:xfrm>
            <a:off x="1143000" y="1965960"/>
            <a:ext cx="566928" cy="566928"/>
          </a:xfrm>
          <a:prstGeom prst="ellipse">
            <a:avLst/>
          </a:prstGeom>
          <a:solidFill>
            <a:srgbClr val="34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2121408"/>
            <a:ext cx="566928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100" b="1" i="0">
                <a:solidFill>
                  <a:srgbClr val="050A15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788920"/>
            <a:ext cx="164592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400" b="1" i="0">
                <a:solidFill>
                  <a:srgbClr val="F5F8FD"/>
                </a:solidFill>
                <a:latin typeface="Aptos"/>
              </a:defRPr>
            </a:pPr>
            <a:r>
              <a:t>Initialize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246120"/>
            <a:ext cx="1874519" cy="9144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100" b="0" i="0">
                <a:solidFill>
                  <a:srgbClr val="AEBED4"/>
                </a:solidFill>
                <a:latin typeface="Aptos"/>
              </a:defRPr>
            </a:pPr>
            <a:r>
              <a:t>Set a local variable to 100.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783080" y="2249424"/>
            <a:ext cx="886968" cy="0"/>
          </a:xfrm>
          <a:prstGeom prst="line">
            <a:avLst/>
          </a:prstGeom>
          <a:ln w="25400">
            <a:solidFill>
              <a:srgbClr val="374B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447287" y="1965960"/>
            <a:ext cx="566928" cy="566928"/>
          </a:xfrm>
          <a:prstGeom prst="ellipse">
            <a:avLst/>
          </a:prstGeom>
          <a:solidFill>
            <a:srgbClr val="66E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47287" y="2121408"/>
            <a:ext cx="566928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100" b="1" i="0">
                <a:solidFill>
                  <a:srgbClr val="050A15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62656" y="2788920"/>
            <a:ext cx="164592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400" b="1" i="0">
                <a:solidFill>
                  <a:srgbClr val="F5F8FD"/>
                </a:solidFill>
                <a:latin typeface="Aptos"/>
              </a:defRPr>
            </a:pPr>
            <a:r>
              <a:t>Create child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71215" y="3246120"/>
            <a:ext cx="1874519" cy="9144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100" b="0" i="0">
                <a:solidFill>
                  <a:srgbClr val="AEBED4"/>
                </a:solidFill>
                <a:latin typeface="Aptos"/>
              </a:defRPr>
            </a:pPr>
            <a:r>
              <a:t>Call fork() to create a child process.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087368" y="2249424"/>
            <a:ext cx="886968" cy="0"/>
          </a:xfrm>
          <a:prstGeom prst="line">
            <a:avLst/>
          </a:prstGeom>
          <a:ln w="25400">
            <a:solidFill>
              <a:srgbClr val="374B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751576" y="1965960"/>
            <a:ext cx="566928" cy="566928"/>
          </a:xfrm>
          <a:prstGeom prst="ellipse">
            <a:avLst/>
          </a:prstGeom>
          <a:solidFill>
            <a:srgbClr val="FFC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51576" y="2121408"/>
            <a:ext cx="566928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100" b="1" i="0">
                <a:solidFill>
                  <a:srgbClr val="050A15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66944" y="2788920"/>
            <a:ext cx="164592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400" b="1" i="0">
                <a:solidFill>
                  <a:srgbClr val="F5F8FD"/>
                </a:solidFill>
                <a:latin typeface="Aptos"/>
              </a:defRPr>
            </a:pPr>
            <a:r>
              <a:t>Read values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75504" y="3246120"/>
            <a:ext cx="1874519" cy="9144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100" b="0" i="0">
                <a:solidFill>
                  <a:srgbClr val="AEBED4"/>
                </a:solidFill>
                <a:latin typeface="Aptos"/>
              </a:defRPr>
            </a:pPr>
            <a:r>
              <a:t>Print the value in each process.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391656" y="2249424"/>
            <a:ext cx="886968" cy="0"/>
          </a:xfrm>
          <a:prstGeom prst="line">
            <a:avLst/>
          </a:prstGeom>
          <a:ln w="25400">
            <a:solidFill>
              <a:srgbClr val="374B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055864" y="1965960"/>
            <a:ext cx="566928" cy="566928"/>
          </a:xfrm>
          <a:prstGeom prst="ellipse">
            <a:avLst/>
          </a:prstGeom>
          <a:solidFill>
            <a:srgbClr val="FF7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55864" y="2121408"/>
            <a:ext cx="566928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100" b="1" i="0">
                <a:solidFill>
                  <a:srgbClr val="050A15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71231" y="2788920"/>
            <a:ext cx="164592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400" b="1" i="0">
                <a:solidFill>
                  <a:srgbClr val="F5F8FD"/>
                </a:solidFill>
                <a:latin typeface="Aptos"/>
              </a:defRPr>
            </a:pPr>
            <a:r>
              <a:t>Write in child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79792" y="3246120"/>
            <a:ext cx="1874519" cy="9144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100" b="0" i="0">
                <a:solidFill>
                  <a:srgbClr val="AEBED4"/>
                </a:solidFill>
                <a:latin typeface="Aptos"/>
              </a:defRPr>
            </a:pPr>
            <a:r>
              <a:t>Child changes its own value to 200.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695944" y="2249424"/>
            <a:ext cx="886968" cy="0"/>
          </a:xfrm>
          <a:prstGeom prst="line">
            <a:avLst/>
          </a:prstGeom>
          <a:ln w="25400">
            <a:solidFill>
              <a:srgbClr val="374B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10360152" y="1965960"/>
            <a:ext cx="566928" cy="566928"/>
          </a:xfrm>
          <a:prstGeom prst="ellipse">
            <a:avLst/>
          </a:prstGeom>
          <a:solidFill>
            <a:srgbClr val="34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360152" y="2121408"/>
            <a:ext cx="566928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100" b="1" i="0">
                <a:solidFill>
                  <a:srgbClr val="050A15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19" y="2788920"/>
            <a:ext cx="164592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400" b="1" i="0">
                <a:solidFill>
                  <a:srgbClr val="F5F8FD"/>
                </a:solidFill>
                <a:latin typeface="Aptos"/>
              </a:defRPr>
            </a:pPr>
            <a:r>
              <a:t>Compare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3246120"/>
            <a:ext cx="1874519" cy="9144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100" b="0" i="0">
                <a:solidFill>
                  <a:srgbClr val="AEBED4"/>
                </a:solidFill>
                <a:latin typeface="Aptos"/>
              </a:defRPr>
            </a:pPr>
            <a:r>
              <a:t>Print both values and explain isolation.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4709160"/>
            <a:ext cx="4846320" cy="914400"/>
          </a:xfrm>
          <a:prstGeom prst="roundRect">
            <a:avLst/>
          </a:prstGeom>
          <a:solidFill>
            <a:srgbClr val="16243D"/>
          </a:solidFill>
          <a:ln w="12700">
            <a:solidFill>
              <a:srgbClr val="374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78992" y="4855464"/>
            <a:ext cx="4517136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34D3E6"/>
                </a:solidFill>
                <a:latin typeface="Aptos"/>
              </a:defRPr>
            </a:pPr>
            <a:r>
              <a:t>TECHNOLOGY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" y="5276088"/>
            <a:ext cx="4517136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F5F8FD"/>
                </a:solidFill>
                <a:latin typeface="Aptos"/>
              </a:defRPr>
            </a:pPr>
            <a:r>
              <a:t>C • Linux/Ubuntu • fork() • terminal output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4709160"/>
            <a:ext cx="4846320" cy="914400"/>
          </a:xfrm>
          <a:prstGeom prst="roundRect">
            <a:avLst/>
          </a:prstGeom>
          <a:solidFill>
            <a:srgbClr val="16243D"/>
          </a:solidFill>
          <a:ln w="12700">
            <a:solidFill>
              <a:srgbClr val="374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28231" y="4855464"/>
            <a:ext cx="4517136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FFC266"/>
                </a:solidFill>
                <a:latin typeface="Aptos"/>
              </a:defRPr>
            </a:pPr>
            <a:r>
              <a:t>IMPLEMENTATION NOTE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8231" y="5276088"/>
            <a:ext cx="4517136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100" b="0" i="0">
                <a:solidFill>
                  <a:srgbClr val="F5F8FD"/>
                </a:solidFill>
                <a:latin typeface="Aptos"/>
              </a:defRPr>
            </a:pPr>
            <a:r>
              <a:t>Confirm all code runs in the target Linux environment before claiming completion.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" y="6510528"/>
            <a:ext cx="978408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800" b="1" i="0">
                <a:solidFill>
                  <a:srgbClr val="AEBED4"/>
                </a:solidFill>
                <a:latin typeface="Aptos"/>
              </a:defRPr>
            </a:pPr>
            <a:r>
              <a:t>BATCH 22  |  OPERATING SYSTEMS PROJECT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34D3E6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4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789920" cy="2377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900" b="1" i="0">
                <a:solidFill>
                  <a:srgbClr val="34D3E6"/>
                </a:solidFill>
                <a:latin typeface="Aptos"/>
              </a:defRPr>
            </a:pPr>
            <a:r>
              <a:t>RUBRIC 5 | 10 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760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2800" b="1" i="0">
                <a:solidFill>
                  <a:srgbClr val="F5F8FD"/>
                </a:solidFill>
                <a:latin typeface="Aptos"/>
              </a:defRPr>
            </a:pPr>
            <a:r>
              <a:t>Testing and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25296"/>
            <a:ext cx="10698480" cy="3931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AEBED4"/>
                </a:solidFill>
                <a:latin typeface="Aptos"/>
              </a:defRPr>
            </a:pPr>
            <a:r>
              <a:t>Use these test cases and record the actual results before submission.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2011680" cy="502920"/>
          </a:xfrm>
          <a:prstGeom prst="rect">
            <a:avLst/>
          </a:prstGeom>
          <a:solidFill>
            <a:srgbClr val="1F314E"/>
          </a:solidFill>
          <a:ln>
            <a:solidFill>
              <a:srgbClr val="374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965960"/>
            <a:ext cx="1865376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34D3E6"/>
                </a:solidFill>
                <a:latin typeface="Aptos"/>
              </a:defRPr>
            </a:pPr>
            <a:r>
              <a:t>TEST CASE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1828800"/>
            <a:ext cx="3474720" cy="502920"/>
          </a:xfrm>
          <a:prstGeom prst="rect">
            <a:avLst/>
          </a:prstGeom>
          <a:solidFill>
            <a:srgbClr val="1F314E"/>
          </a:solidFill>
          <a:ln>
            <a:solidFill>
              <a:srgbClr val="374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07792" y="1965960"/>
            <a:ext cx="3328415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34D3E6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828800"/>
            <a:ext cx="2651760" cy="502920"/>
          </a:xfrm>
          <a:prstGeom prst="rect">
            <a:avLst/>
          </a:prstGeom>
          <a:solidFill>
            <a:srgbClr val="1F314E"/>
          </a:solidFill>
          <a:ln>
            <a:solidFill>
              <a:srgbClr val="374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73952" y="1965960"/>
            <a:ext cx="2505456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34D3E6"/>
                </a:solidFill>
                <a:latin typeface="Aptos"/>
              </a:defRPr>
            </a:pPr>
            <a:r>
              <a:t>EXPECTED OBSERVATION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1828800"/>
            <a:ext cx="2286000" cy="502920"/>
          </a:xfrm>
          <a:prstGeom prst="rect">
            <a:avLst/>
          </a:prstGeom>
          <a:solidFill>
            <a:srgbClr val="1F314E"/>
          </a:solidFill>
          <a:ln>
            <a:solidFill>
              <a:srgbClr val="374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17152" y="1965960"/>
            <a:ext cx="2139696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34D3E6"/>
                </a:solidFill>
                <a:latin typeface="Aptos"/>
              </a:defRPr>
            </a:pPr>
            <a:r>
              <a:t>STATUS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331720"/>
            <a:ext cx="2011680" cy="621792"/>
          </a:xfrm>
          <a:prstGeom prst="rect">
            <a:avLst/>
          </a:prstGeom>
          <a:solidFill>
            <a:srgbClr val="16243D"/>
          </a:solidFill>
          <a:ln>
            <a:solidFill>
              <a:srgbClr val="374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" y="2468879"/>
            <a:ext cx="1865376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F5F8FD"/>
                </a:solidFill>
                <a:latin typeface="Aptos"/>
              </a:defRPr>
            </a:pPr>
            <a:r>
              <a:t>Initial state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34640" y="2331720"/>
            <a:ext cx="3474720" cy="621792"/>
          </a:xfrm>
          <a:prstGeom prst="rect">
            <a:avLst/>
          </a:prstGeom>
          <a:solidFill>
            <a:srgbClr val="16243D"/>
          </a:solidFill>
          <a:ln>
            <a:solidFill>
              <a:srgbClr val="374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07792" y="2468879"/>
            <a:ext cx="3328415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F5F8FD"/>
                </a:solidFill>
                <a:latin typeface="Aptos"/>
              </a:defRPr>
            </a:pPr>
            <a:r>
              <a:t>Create parent and child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331720"/>
            <a:ext cx="2651760" cy="621792"/>
          </a:xfrm>
          <a:prstGeom prst="rect">
            <a:avLst/>
          </a:prstGeom>
          <a:solidFill>
            <a:srgbClr val="16243D"/>
          </a:solidFill>
          <a:ln>
            <a:solidFill>
              <a:srgbClr val="374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73952" y="2468879"/>
            <a:ext cx="2505456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F5F8FD"/>
                </a:solidFill>
                <a:latin typeface="Aptos"/>
              </a:defRPr>
            </a:pPr>
            <a:r>
              <a:t>Both print 100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2331720"/>
            <a:ext cx="2286000" cy="621792"/>
          </a:xfrm>
          <a:prstGeom prst="rect">
            <a:avLst/>
          </a:prstGeom>
          <a:solidFill>
            <a:srgbClr val="16243D"/>
          </a:solidFill>
          <a:ln>
            <a:solidFill>
              <a:srgbClr val="374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17152" y="2468879"/>
            <a:ext cx="2139696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FFC266"/>
                </a:solidFill>
                <a:latin typeface="Aptos"/>
              </a:defRPr>
            </a:pPr>
            <a:r>
              <a:t>To run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2953512"/>
            <a:ext cx="2011680" cy="621792"/>
          </a:xfrm>
          <a:prstGeom prst="rect">
            <a:avLst/>
          </a:prstGeom>
          <a:solidFill>
            <a:srgbClr val="0C162A"/>
          </a:solidFill>
          <a:ln>
            <a:solidFill>
              <a:srgbClr val="374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" y="3090672"/>
            <a:ext cx="1865376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F5F8FD"/>
                </a:solidFill>
                <a:latin typeface="Aptos"/>
              </a:defRPr>
            </a:pPr>
            <a:r>
              <a:t>Child write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34640" y="2953512"/>
            <a:ext cx="3474720" cy="621792"/>
          </a:xfrm>
          <a:prstGeom prst="rect">
            <a:avLst/>
          </a:prstGeom>
          <a:solidFill>
            <a:srgbClr val="0C162A"/>
          </a:solidFill>
          <a:ln>
            <a:solidFill>
              <a:srgbClr val="374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907792" y="3090672"/>
            <a:ext cx="3328415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F5F8FD"/>
                </a:solidFill>
                <a:latin typeface="Aptos"/>
              </a:defRPr>
            </a:pPr>
            <a:r>
              <a:t>Child changes value to 200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2953512"/>
            <a:ext cx="2651760" cy="621792"/>
          </a:xfrm>
          <a:prstGeom prst="rect">
            <a:avLst/>
          </a:prstGeom>
          <a:solidFill>
            <a:srgbClr val="0C162A"/>
          </a:solidFill>
          <a:ln>
            <a:solidFill>
              <a:srgbClr val="374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73952" y="3090672"/>
            <a:ext cx="2505456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F5F8FD"/>
                </a:solidFill>
                <a:latin typeface="Aptos"/>
              </a:defRPr>
            </a:pPr>
            <a:r>
              <a:t>Child prints 200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0" y="2953512"/>
            <a:ext cx="2286000" cy="621792"/>
          </a:xfrm>
          <a:prstGeom prst="rect">
            <a:avLst/>
          </a:prstGeom>
          <a:solidFill>
            <a:srgbClr val="0C162A"/>
          </a:solidFill>
          <a:ln>
            <a:solidFill>
              <a:srgbClr val="374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217152" y="3090672"/>
            <a:ext cx="2139696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FFC266"/>
                </a:solidFill>
                <a:latin typeface="Aptos"/>
              </a:defRPr>
            </a:pPr>
            <a:r>
              <a:t>To run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3575304"/>
            <a:ext cx="2011680" cy="621792"/>
          </a:xfrm>
          <a:prstGeom prst="rect">
            <a:avLst/>
          </a:prstGeom>
          <a:solidFill>
            <a:srgbClr val="16243D"/>
          </a:solidFill>
          <a:ln>
            <a:solidFill>
              <a:srgbClr val="374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4672" y="3712464"/>
            <a:ext cx="1865376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F5F8FD"/>
                </a:solidFill>
                <a:latin typeface="Aptos"/>
              </a:defRPr>
            </a:pPr>
            <a:r>
              <a:t>Parent isolation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34640" y="3575304"/>
            <a:ext cx="3474720" cy="621792"/>
          </a:xfrm>
          <a:prstGeom prst="rect">
            <a:avLst/>
          </a:prstGeom>
          <a:solidFill>
            <a:srgbClr val="16243D"/>
          </a:solidFill>
          <a:ln>
            <a:solidFill>
              <a:srgbClr val="374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907792" y="3712464"/>
            <a:ext cx="3328415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F5F8FD"/>
                </a:solidFill>
                <a:latin typeface="Aptos"/>
              </a:defRPr>
            </a:pPr>
            <a:r>
              <a:t>Print parent after child write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3575304"/>
            <a:ext cx="2651760" cy="621792"/>
          </a:xfrm>
          <a:prstGeom prst="rect">
            <a:avLst/>
          </a:prstGeom>
          <a:solidFill>
            <a:srgbClr val="16243D"/>
          </a:solidFill>
          <a:ln>
            <a:solidFill>
              <a:srgbClr val="374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73952" y="3712464"/>
            <a:ext cx="2505456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F5F8FD"/>
                </a:solidFill>
                <a:latin typeface="Aptos"/>
              </a:defRPr>
            </a:pPr>
            <a:r>
              <a:t>Parent still prints 100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0" y="3575304"/>
            <a:ext cx="2286000" cy="621792"/>
          </a:xfrm>
          <a:prstGeom prst="rect">
            <a:avLst/>
          </a:prstGeom>
          <a:solidFill>
            <a:srgbClr val="16243D"/>
          </a:solidFill>
          <a:ln>
            <a:solidFill>
              <a:srgbClr val="374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217152" y="3712464"/>
            <a:ext cx="2139696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FFC266"/>
                </a:solidFill>
                <a:latin typeface="Aptos"/>
              </a:defRPr>
            </a:pPr>
            <a:r>
              <a:t>To run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4197096"/>
            <a:ext cx="2011680" cy="621792"/>
          </a:xfrm>
          <a:prstGeom prst="rect">
            <a:avLst/>
          </a:prstGeom>
          <a:solidFill>
            <a:srgbClr val="0C162A"/>
          </a:solidFill>
          <a:ln>
            <a:solidFill>
              <a:srgbClr val="374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04672" y="4334256"/>
            <a:ext cx="1865376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000" b="1" i="0">
                <a:solidFill>
                  <a:srgbClr val="F5F8FD"/>
                </a:solidFill>
                <a:latin typeface="Aptos"/>
              </a:defRPr>
            </a:pPr>
            <a:r>
              <a:t>Repeatability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34640" y="4197096"/>
            <a:ext cx="3474720" cy="621792"/>
          </a:xfrm>
          <a:prstGeom prst="rect">
            <a:avLst/>
          </a:prstGeom>
          <a:solidFill>
            <a:srgbClr val="0C162A"/>
          </a:solidFill>
          <a:ln>
            <a:solidFill>
              <a:srgbClr val="374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907792" y="4334256"/>
            <a:ext cx="3328415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F5F8FD"/>
                </a:solidFill>
                <a:latin typeface="Aptos"/>
              </a:defRPr>
            </a:pPr>
            <a:r>
              <a:t>Run several times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4197096"/>
            <a:ext cx="2651760" cy="621792"/>
          </a:xfrm>
          <a:prstGeom prst="rect">
            <a:avLst/>
          </a:prstGeom>
          <a:solidFill>
            <a:srgbClr val="0C162A"/>
          </a:solidFill>
          <a:ln>
            <a:solidFill>
              <a:srgbClr val="374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73952" y="4334256"/>
            <a:ext cx="2505456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F5F8FD"/>
                </a:solidFill>
                <a:latin typeface="Aptos"/>
              </a:defRPr>
            </a:pPr>
            <a:r>
              <a:t>Consistent expected behavior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0" y="4197096"/>
            <a:ext cx="2286000" cy="621792"/>
          </a:xfrm>
          <a:prstGeom prst="rect">
            <a:avLst/>
          </a:prstGeom>
          <a:solidFill>
            <a:srgbClr val="0C162A"/>
          </a:solidFill>
          <a:ln>
            <a:solidFill>
              <a:srgbClr val="374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217152" y="4334256"/>
            <a:ext cx="2139696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000" b="0" i="0">
                <a:solidFill>
                  <a:srgbClr val="FFC266"/>
                </a:solidFill>
                <a:latin typeface="Aptos"/>
              </a:defRPr>
            </a:pPr>
            <a:r>
              <a:t>To run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" y="5166360"/>
            <a:ext cx="10332720" cy="5943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200" b="1" i="0">
                <a:solidFill>
                  <a:srgbClr val="FFC266"/>
                </a:solidFill>
                <a:latin typeface="Aptos"/>
              </a:defRPr>
            </a:pPr>
            <a:r>
              <a:t>Important: 'To run' is a checklist placeholder. Replace it with Pass/Fail and evidence after executing the program.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3504" y="6510528"/>
            <a:ext cx="978408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800" b="1" i="0">
                <a:solidFill>
                  <a:srgbClr val="AEBED4"/>
                </a:solidFill>
                <a:latin typeface="Aptos"/>
              </a:defRPr>
            </a:pPr>
            <a:r>
              <a:t>BATCH 22  |  OPERATING SYSTEMS PROJECT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34D3E6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4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789920" cy="2377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900" b="1" i="0">
                <a:solidFill>
                  <a:srgbClr val="34D3E6"/>
                </a:solidFill>
                <a:latin typeface="Aptos"/>
              </a:defRPr>
            </a:pPr>
            <a:r>
              <a:t>RUBRIC 6 | 10 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760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2800" b="1" i="0">
                <a:solidFill>
                  <a:srgbClr val="F5F8FD"/>
                </a:solidFill>
                <a:latin typeface="Aptos"/>
              </a:defRPr>
            </a:pPr>
            <a:r>
              <a:t>Documentation and 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25296"/>
            <a:ext cx="10698480" cy="3931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AEBED4"/>
                </a:solidFill>
                <a:latin typeface="Aptos"/>
              </a:defRPr>
            </a:pPr>
            <a:r>
              <a:t>Keep the project reproducible for faculty and teammates.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29000" cy="2377440"/>
          </a:xfrm>
          <a:prstGeom prst="roundRect">
            <a:avLst/>
          </a:prstGeom>
          <a:solidFill>
            <a:srgbClr val="16243D"/>
          </a:solidFill>
          <a:ln w="12700">
            <a:solidFill>
              <a:srgbClr val="374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975104"/>
            <a:ext cx="3099816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34D3E6"/>
                </a:solidFill>
                <a:latin typeface="Aptos"/>
              </a:defRPr>
            </a:pPr>
            <a:r>
              <a:t>README.md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395728"/>
            <a:ext cx="3099816" cy="16824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F5F8FD"/>
                </a:solidFill>
                <a:latin typeface="Aptos"/>
              </a:defRPr>
            </a:pPr>
            <a:r>
              <a:t>• Project overview and objective</a:t>
            </a:r>
          </a:p>
          <a:p>
            <a:pPr algn="l">
              <a:spcAft>
                <a:spcPts val="500"/>
              </a:spcAft>
              <a:defRPr sz="1300" b="0" i="0">
                <a:solidFill>
                  <a:srgbClr val="F5F8FD"/>
                </a:solidFill>
                <a:latin typeface="Aptos"/>
              </a:defRPr>
            </a:pPr>
            <a:r>
              <a:t>• Prerequisites and setup</a:t>
            </a:r>
          </a:p>
          <a:p>
            <a:pPr algn="l">
              <a:spcAft>
                <a:spcPts val="500"/>
              </a:spcAft>
              <a:defRPr sz="1300" b="0" i="0">
                <a:solidFill>
                  <a:srgbClr val="F5F8FD"/>
                </a:solidFill>
                <a:latin typeface="Aptos"/>
              </a:defRPr>
            </a:pPr>
            <a:r>
              <a:t>• Compile and run commands</a:t>
            </a:r>
          </a:p>
          <a:p>
            <a:pPr algn="l">
              <a:spcAft>
                <a:spcPts val="500"/>
              </a:spcAft>
              <a:defRPr sz="1300" b="0" i="0">
                <a:solidFill>
                  <a:srgbClr val="F5F8FD"/>
                </a:solidFill>
                <a:latin typeface="Aptos"/>
              </a:defRPr>
            </a:pPr>
            <a:r>
              <a:t>• Expected output and limitations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429000" cy="2377440"/>
          </a:xfrm>
          <a:prstGeom prst="roundRect">
            <a:avLst/>
          </a:prstGeom>
          <a:solidFill>
            <a:srgbClr val="16243D"/>
          </a:solidFill>
          <a:ln w="12700">
            <a:solidFill>
              <a:srgbClr val="374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53712" y="1975104"/>
            <a:ext cx="3099816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66E6B4"/>
                </a:solidFill>
                <a:latin typeface="Aptos"/>
              </a:defRPr>
            </a:pPr>
            <a:r>
              <a:t>PROJECT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395728"/>
            <a:ext cx="3099816" cy="16824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F5F8FD"/>
                </a:solidFill>
                <a:latin typeface="Aptos"/>
              </a:defRPr>
            </a:pPr>
            <a:r>
              <a:t>• Problem definition</a:t>
            </a:r>
          </a:p>
          <a:p>
            <a:pPr algn="l">
              <a:spcAft>
                <a:spcPts val="500"/>
              </a:spcAft>
              <a:defRPr sz="1300" b="0" i="0">
                <a:solidFill>
                  <a:srgbClr val="F5F8FD"/>
                </a:solidFill>
                <a:latin typeface="Aptos"/>
              </a:defRPr>
            </a:pPr>
            <a:r>
              <a:t>• Architecture diagram</a:t>
            </a:r>
          </a:p>
          <a:p>
            <a:pPr algn="l">
              <a:spcAft>
                <a:spcPts val="500"/>
              </a:spcAft>
              <a:defRPr sz="1300" b="0" i="0">
                <a:solidFill>
                  <a:srgbClr val="F5F8FD"/>
                </a:solidFill>
                <a:latin typeface="Aptos"/>
              </a:defRPr>
            </a:pPr>
            <a:r>
              <a:t>• Implementation approach</a:t>
            </a:r>
          </a:p>
          <a:p>
            <a:pPr algn="l">
              <a:spcAft>
                <a:spcPts val="500"/>
              </a:spcAft>
              <a:defRPr sz="1300" b="0" i="0">
                <a:solidFill>
                  <a:srgbClr val="F5F8FD"/>
                </a:solidFill>
                <a:latin typeface="Aptos"/>
              </a:defRPr>
            </a:pPr>
            <a:r>
              <a:t>• Test cases and results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429000" cy="2377440"/>
          </a:xfrm>
          <a:prstGeom prst="roundRect">
            <a:avLst/>
          </a:prstGeom>
          <a:solidFill>
            <a:srgbClr val="16243D"/>
          </a:solidFill>
          <a:ln w="12700">
            <a:solidFill>
              <a:srgbClr val="374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11312" y="1975104"/>
            <a:ext cx="3099816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FFC266"/>
                </a:solidFill>
                <a:latin typeface="Aptos"/>
              </a:defRPr>
            </a:pPr>
            <a:r>
              <a:t>PRESENTATION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2395728"/>
            <a:ext cx="3099816" cy="16824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F5F8FD"/>
                </a:solidFill>
                <a:latin typeface="Aptos"/>
              </a:defRPr>
            </a:pPr>
            <a:r>
              <a:t>• Screenshots of actual output</a:t>
            </a:r>
          </a:p>
          <a:p>
            <a:pPr algn="l">
              <a:spcAft>
                <a:spcPts val="500"/>
              </a:spcAft>
              <a:defRPr sz="1300" b="0" i="0">
                <a:solidFill>
                  <a:srgbClr val="F5F8FD"/>
                </a:solidFill>
                <a:latin typeface="Aptos"/>
              </a:defRPr>
            </a:pPr>
            <a:r>
              <a:t>• Testing evidence</a:t>
            </a:r>
          </a:p>
          <a:p>
            <a:pPr algn="l">
              <a:spcAft>
                <a:spcPts val="500"/>
              </a:spcAft>
              <a:defRPr sz="1300" b="0" i="0">
                <a:solidFill>
                  <a:srgbClr val="F5F8FD"/>
                </a:solidFill>
                <a:latin typeface="Aptos"/>
              </a:defRPr>
            </a:pPr>
            <a:r>
              <a:t>• Team contribution summary</a:t>
            </a:r>
          </a:p>
          <a:p>
            <a:pPr algn="l">
              <a:spcAft>
                <a:spcPts val="500"/>
              </a:spcAft>
              <a:defRPr sz="1300" b="0" i="0">
                <a:solidFill>
                  <a:srgbClr val="F5F8FD"/>
                </a:solidFill>
                <a:latin typeface="Aptos"/>
              </a:defRPr>
            </a:pPr>
            <a:r>
              <a:t>• Future improvements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92040"/>
            <a:ext cx="1033272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300" b="0" i="0">
                <a:solidFill>
                  <a:srgbClr val="AEBED4"/>
                </a:solidFill>
                <a:latin typeface="Aptos"/>
              </a:defRPr>
            </a:pPr>
            <a:r>
              <a:t>Submission quality: use consistent naming, readable screenshots, and verified commands.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" y="6510528"/>
            <a:ext cx="978408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800" b="1" i="0">
                <a:solidFill>
                  <a:srgbClr val="AEBED4"/>
                </a:solidFill>
                <a:latin typeface="Aptos"/>
              </a:defRPr>
            </a:pPr>
            <a:r>
              <a:t>BATCH 22  |  OPERATING SYSTEMS PROJECT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34D3E6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4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789920" cy="2377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900" b="1" i="0">
                <a:solidFill>
                  <a:srgbClr val="34D3E6"/>
                </a:solidFill>
                <a:latin typeface="Aptos"/>
              </a:defRPr>
            </a:pPr>
            <a:r>
              <a:t>RUBRIC 7 | 5 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760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2800" b="1" i="0">
                <a:solidFill>
                  <a:srgbClr val="F5F8FD"/>
                </a:solidFill>
                <a:latin typeface="Aptos"/>
              </a:defRPr>
            </a:pPr>
            <a:r>
              <a:t>GitHub repository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25296"/>
            <a:ext cx="10698480" cy="3931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AEBED4"/>
                </a:solidFill>
                <a:latin typeface="Aptos"/>
              </a:defRPr>
            </a:pPr>
            <a:r>
              <a:t>Add the real repository URL and verify that the faculty can access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5074920" cy="2377440"/>
          </a:xfrm>
          <a:prstGeom prst="roundRect">
            <a:avLst/>
          </a:prstGeom>
          <a:solidFill>
            <a:srgbClr val="16243D"/>
          </a:solidFill>
          <a:ln w="12700">
            <a:solidFill>
              <a:srgbClr val="374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1975104"/>
            <a:ext cx="4745736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34D3E6"/>
                </a:solidFill>
                <a:latin typeface="Aptos"/>
              </a:defRPr>
            </a:pPr>
            <a:r>
              <a:t>REPOSITORY 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395728"/>
            <a:ext cx="4745736" cy="16824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F5F8FD"/>
                </a:solidFill>
                <a:latin typeface="Aptos"/>
              </a:defRPr>
            </a:pPr>
            <a:r>
              <a:t>Recommended structure:</a:t>
            </a:r>
          </a:p>
          <a:p>
            <a:pPr algn="l">
              <a:spcAft>
                <a:spcPts val="500"/>
              </a:spcAft>
              <a:defRPr sz="1300" b="0" i="0">
                <a:solidFill>
                  <a:srgbClr val="F5F8FD"/>
                </a:solidFill>
                <a:latin typeface="Aptos"/>
              </a:defRPr>
            </a:pPr>
            <a:r>
              <a:t>• README.md</a:t>
            </a:r>
          </a:p>
          <a:p>
            <a:pPr algn="l">
              <a:spcAft>
                <a:spcPts val="500"/>
              </a:spcAft>
              <a:defRPr sz="1300" b="0" i="0">
                <a:solidFill>
                  <a:srgbClr val="F5F8FD"/>
                </a:solidFill>
                <a:latin typeface="Aptos"/>
              </a:defRPr>
            </a:pPr>
            <a:r>
              <a:t>• src/  (C source code)</a:t>
            </a:r>
          </a:p>
          <a:p>
            <a:pPr algn="l">
              <a:spcAft>
                <a:spcPts val="500"/>
              </a:spcAft>
              <a:defRPr sz="1300" b="0" i="0">
                <a:solidFill>
                  <a:srgbClr val="F5F8FD"/>
                </a:solidFill>
                <a:latin typeface="Aptos"/>
              </a:defRPr>
            </a:pPr>
            <a:r>
              <a:t>• tests/  (test cases/results)</a:t>
            </a:r>
          </a:p>
          <a:p>
            <a:pPr algn="l">
              <a:spcAft>
                <a:spcPts val="500"/>
              </a:spcAft>
              <a:defRPr sz="1300" b="0" i="0">
                <a:solidFill>
                  <a:srgbClr val="F5F8FD"/>
                </a:solidFill>
                <a:latin typeface="Aptos"/>
              </a:defRPr>
            </a:pPr>
            <a:r>
              <a:t>• docs/  (report and diagrams)</a:t>
            </a:r>
          </a:p>
          <a:p>
            <a:pPr algn="l">
              <a:spcAft>
                <a:spcPts val="500"/>
              </a:spcAft>
              <a:defRPr sz="1300" b="0" i="0">
                <a:solidFill>
                  <a:srgbClr val="F5F8FD"/>
                </a:solidFill>
                <a:latin typeface="Aptos"/>
              </a:defRPr>
            </a:pPr>
            <a:r>
              <a:t>• screenshots/  (actual evidence)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28800"/>
            <a:ext cx="5074920" cy="2377440"/>
          </a:xfrm>
          <a:prstGeom prst="roundRect">
            <a:avLst/>
          </a:prstGeom>
          <a:solidFill>
            <a:srgbClr val="16243D"/>
          </a:solidFill>
          <a:ln w="12700">
            <a:solidFill>
              <a:srgbClr val="374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28231" y="1975104"/>
            <a:ext cx="4745736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FFC266"/>
                </a:solidFill>
                <a:latin typeface="Aptos"/>
              </a:defRPr>
            </a:pPr>
            <a:r>
              <a:t>REPOSITORY LINK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1" y="2395728"/>
            <a:ext cx="4745736" cy="16824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F5F8FD"/>
                </a:solidFill>
                <a:latin typeface="Aptos"/>
              </a:defRPr>
            </a:pPr>
            <a:r>
              <a:t>GitHub URL:</a:t>
            </a:r>
          </a:p>
          <a:p>
            <a:pPr algn="l">
              <a:spcAft>
                <a:spcPts val="500"/>
              </a:spcAft>
              <a:defRPr sz="1400" b="0" i="0">
                <a:solidFill>
                  <a:srgbClr val="F5F8FD"/>
                </a:solidFill>
                <a:latin typeface="Aptos"/>
              </a:defRPr>
            </a:pPr>
            <a:r>
              <a:t>[PASTE YOUR PROJECT REPOSITORY URL HERE]</a:t>
            </a:r>
          </a:p>
          <a:p>
            <a:pPr algn="l">
              <a:spcAft>
                <a:spcPts val="500"/>
              </a:spcAft>
              <a:defRPr sz="1400" b="0" i="0">
                <a:solidFill>
                  <a:srgbClr val="F5F8FD"/>
                </a:solidFill>
                <a:latin typeface="Aptos"/>
              </a:defRPr>
            </a:pPr>
            <a:endParaRPr/>
          </a:p>
          <a:p>
            <a:pPr algn="l">
              <a:spcAft>
                <a:spcPts val="500"/>
              </a:spcAft>
              <a:defRPr sz="1400" b="0" i="0">
                <a:solidFill>
                  <a:srgbClr val="F5F8FD"/>
                </a:solidFill>
                <a:latin typeface="Aptos"/>
              </a:defRPr>
            </a:pPr>
            <a:r>
              <a:t>Before submission: test the link, check permissions, and ensure the final code is committed.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937760"/>
            <a:ext cx="10241280" cy="548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200" b="1" i="0">
                <a:solidFill>
                  <a:srgbClr val="FF7797"/>
                </a:solidFill>
                <a:latin typeface="Aptos"/>
              </a:defRPr>
            </a:pPr>
            <a:r>
              <a:t>Do not submit with the placeholder still in the slide. The project URL was not provided.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" y="6510528"/>
            <a:ext cx="978408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800" b="1" i="0">
                <a:solidFill>
                  <a:srgbClr val="AEBED4"/>
                </a:solidFill>
                <a:latin typeface="Aptos"/>
              </a:defRPr>
            </a:pPr>
            <a:r>
              <a:t>BATCH 22  |  OPERATING SYSTEMS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34D3E6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4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789920" cy="2377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900" b="1" i="0">
                <a:solidFill>
                  <a:srgbClr val="34D3E6"/>
                </a:solidFill>
                <a:latin typeface="Aptos"/>
              </a:defRPr>
            </a:pPr>
            <a:r>
              <a:t>RUBRIC 8 | 10 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760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2800" b="1" i="0">
                <a:solidFill>
                  <a:srgbClr val="F5F8FD"/>
                </a:solidFill>
                <a:latin typeface="Aptos"/>
              </a:defRPr>
            </a:pPr>
            <a:r>
              <a:t>Presentation and live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25296"/>
            <a:ext cx="10698480" cy="3931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AEBED4"/>
                </a:solidFill>
                <a:latin typeface="Aptos"/>
              </a:defRPr>
            </a:pPr>
            <a:r>
              <a:t>Suggested speaking flow for a clear, formal project review.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965960"/>
            <a:ext cx="2423160" cy="1920240"/>
          </a:xfrm>
          <a:prstGeom prst="roundRect">
            <a:avLst/>
          </a:prstGeom>
          <a:solidFill>
            <a:srgbClr val="16243D"/>
          </a:solidFill>
          <a:ln w="12700">
            <a:solidFill>
              <a:srgbClr val="374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2112264"/>
            <a:ext cx="2093976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34D3E6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532888"/>
            <a:ext cx="2093976" cy="12252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F5F8FD"/>
                </a:solidFill>
                <a:latin typeface="Aptos"/>
              </a:defRPr>
            </a:pPr>
            <a:r>
              <a:t>Explain why immediate full copying can be inefficient.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93592" y="1965960"/>
            <a:ext cx="2423160" cy="1920240"/>
          </a:xfrm>
          <a:prstGeom prst="roundRect">
            <a:avLst/>
          </a:prstGeom>
          <a:solidFill>
            <a:srgbClr val="16243D"/>
          </a:solidFill>
          <a:ln w="12700">
            <a:solidFill>
              <a:srgbClr val="374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58184" y="2112264"/>
            <a:ext cx="2093976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66E6B4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58184" y="2532888"/>
            <a:ext cx="2093976" cy="12252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F5F8FD"/>
                </a:solidFill>
                <a:latin typeface="Aptos"/>
              </a:defRPr>
            </a:pPr>
            <a:r>
              <a:t>Describe sharing first and copying on write.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9944" y="1965960"/>
            <a:ext cx="2423160" cy="1920240"/>
          </a:xfrm>
          <a:prstGeom prst="roundRect">
            <a:avLst/>
          </a:prstGeom>
          <a:solidFill>
            <a:srgbClr val="16243D"/>
          </a:solidFill>
          <a:ln w="12700">
            <a:solidFill>
              <a:srgbClr val="374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74536" y="2112264"/>
            <a:ext cx="2093976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FFC266"/>
                </a:solidFill>
                <a:latin typeface="Aptos"/>
              </a:defRPr>
            </a:pPr>
            <a:r>
              <a:t>DEMO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4536" y="2532888"/>
            <a:ext cx="2093976" cy="12252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F5F8FD"/>
                </a:solidFill>
                <a:latin typeface="Aptos"/>
              </a:defRPr>
            </a:pPr>
            <a:r>
              <a:t>Run the C program and show parent/child values.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26296" y="1965960"/>
            <a:ext cx="2423160" cy="1920240"/>
          </a:xfrm>
          <a:prstGeom prst="roundRect">
            <a:avLst/>
          </a:prstGeom>
          <a:solidFill>
            <a:srgbClr val="16243D"/>
          </a:solidFill>
          <a:ln w="12700">
            <a:solidFill>
              <a:srgbClr val="374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90888" y="2112264"/>
            <a:ext cx="2093976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FF7797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90888" y="2532888"/>
            <a:ext cx="2093976" cy="12252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F5F8FD"/>
                </a:solidFill>
                <a:latin typeface="Aptos"/>
              </a:defRPr>
            </a:pPr>
            <a:r>
              <a:t>Explain the observed output and what it proves.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709160"/>
            <a:ext cx="10241280" cy="6858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300" b="0" i="0">
                <a:solidFill>
                  <a:srgbClr val="AEBED4"/>
                </a:solidFill>
                <a:latin typeface="Aptos"/>
              </a:defRPr>
            </a:pPr>
            <a:r>
              <a:t>Presentation tip: show the real terminal output; avoid presenting illustrative output as a completed test.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" y="6510528"/>
            <a:ext cx="978408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800" b="1" i="0">
                <a:solidFill>
                  <a:srgbClr val="AEBED4"/>
                </a:solidFill>
                <a:latin typeface="Aptos"/>
              </a:defRPr>
            </a:pPr>
            <a:r>
              <a:t>BATCH 22  |  OPERATING SYSTEMS PROJECT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34D3E6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4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789920" cy="2377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900" b="1" i="0">
                <a:solidFill>
                  <a:srgbClr val="34D3E6"/>
                </a:solidFill>
                <a:latin typeface="Aptos"/>
              </a:defRPr>
            </a:pPr>
            <a:r>
              <a:t>RUBRIC 9 | 5 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760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2800" b="1" i="0">
                <a:solidFill>
                  <a:srgbClr val="F5F8FD"/>
                </a:solidFill>
                <a:latin typeface="Aptos"/>
              </a:defRPr>
            </a:pPr>
            <a:r>
              <a:t>Teamwork and responsibility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25296"/>
            <a:ext cx="10698480" cy="3931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AEBED4"/>
                </a:solidFill>
                <a:latin typeface="Aptos"/>
              </a:defRPr>
            </a:pPr>
            <a:r>
              <a:t>Use this proposed division only if it matches the work actually completed.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29000" cy="2331720"/>
          </a:xfrm>
          <a:prstGeom prst="roundRect">
            <a:avLst/>
          </a:prstGeom>
          <a:solidFill>
            <a:srgbClr val="16243D"/>
          </a:solidFill>
          <a:ln w="12700">
            <a:solidFill>
              <a:srgbClr val="374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975104"/>
            <a:ext cx="3099816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34D3E6"/>
                </a:solidFill>
                <a:latin typeface="Aptos"/>
              </a:defRPr>
            </a:pPr>
            <a:r>
              <a:t>NAVANEETH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395728"/>
            <a:ext cx="3099816" cy="1636775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F5F8FD"/>
                </a:solidFill>
                <a:latin typeface="Aptos"/>
              </a:defRPr>
            </a:pPr>
            <a:r>
              <a:t>Suggested focus: core C logic, fork() behavior and code integration.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429000" cy="2331720"/>
          </a:xfrm>
          <a:prstGeom prst="roundRect">
            <a:avLst/>
          </a:prstGeom>
          <a:solidFill>
            <a:srgbClr val="16243D"/>
          </a:solidFill>
          <a:ln w="12700">
            <a:solidFill>
              <a:srgbClr val="374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53712" y="1975104"/>
            <a:ext cx="3099816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66E6B4"/>
                </a:solidFill>
                <a:latin typeface="Aptos"/>
              </a:defRPr>
            </a:pPr>
            <a:r>
              <a:t>CHAITANYA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395728"/>
            <a:ext cx="3099816" cy="1636775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F5F8FD"/>
                </a:solidFill>
                <a:latin typeface="Aptos"/>
              </a:defRPr>
            </a:pPr>
            <a:r>
              <a:t>Suggested focus: visual explanation, presentation slides and demonstration flow.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429000" cy="2331720"/>
          </a:xfrm>
          <a:prstGeom prst="roundRect">
            <a:avLst/>
          </a:prstGeom>
          <a:solidFill>
            <a:srgbClr val="16243D"/>
          </a:solidFill>
          <a:ln w="12700">
            <a:solidFill>
              <a:srgbClr val="374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11312" y="1975104"/>
            <a:ext cx="3099816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FFC266"/>
                </a:solidFill>
                <a:latin typeface="Aptos"/>
              </a:defRPr>
            </a:pPr>
            <a:r>
              <a:t>G. KARTHIKEYA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2395728"/>
            <a:ext cx="3099816" cy="1636775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F5F8FD"/>
                </a:solidFill>
                <a:latin typeface="Aptos"/>
              </a:defRPr>
            </a:pPr>
            <a:r>
              <a:t>Suggested focus: test cases, documentation and repository organization.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92040"/>
            <a:ext cx="10241280" cy="548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200" b="1" i="0">
                <a:solidFill>
                  <a:srgbClr val="FFC266"/>
                </a:solidFill>
                <a:latin typeface="Aptos"/>
              </a:defRPr>
            </a:pPr>
            <a:r>
              <a:t>Update these responsibilities to accurately reflect each member's real contribution.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" y="6510528"/>
            <a:ext cx="978408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800" b="1" i="0">
                <a:solidFill>
                  <a:srgbClr val="AEBED4"/>
                </a:solidFill>
                <a:latin typeface="Aptos"/>
              </a:defRPr>
            </a:pPr>
            <a:r>
              <a:t>BATCH 22  |  OPERATING SYSTEMS PROJECT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34D3E6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4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789920" cy="2377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900" b="1" i="0">
                <a:solidFill>
                  <a:srgbClr val="34D3E6"/>
                </a:solidFill>
                <a:latin typeface="Aptos"/>
              </a:defRPr>
            </a:pPr>
            <a:r>
              <a:t>RUBRIC 10 | 5 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760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2800" b="1" i="0">
                <a:solidFill>
                  <a:srgbClr val="F5F8FD"/>
                </a:solidFill>
                <a:latin typeface="Aptos"/>
              </a:defRPr>
            </a:pPr>
            <a:r>
              <a:t>Business and practical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25296"/>
            <a:ext cx="10698480" cy="3931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AEBED4"/>
                </a:solidFill>
                <a:latin typeface="Aptos"/>
              </a:defRPr>
            </a:pPr>
            <a:r>
              <a:t>Why this operating-system concept matters beyond the classroom.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3429000" cy="2331720"/>
          </a:xfrm>
          <a:prstGeom prst="roundRect">
            <a:avLst/>
          </a:prstGeom>
          <a:solidFill>
            <a:srgbClr val="16243D"/>
          </a:solidFill>
          <a:ln w="12700">
            <a:solidFill>
              <a:srgbClr val="374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2020824"/>
            <a:ext cx="3099816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34D3E6"/>
                </a:solidFill>
                <a:latin typeface="Aptos"/>
              </a:defRPr>
            </a:pPr>
            <a:r>
              <a:t>RESOURCE EFFICIENCY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441448"/>
            <a:ext cx="3099816" cy="1636775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F5F8FD"/>
                </a:solidFill>
                <a:latin typeface="Aptos"/>
              </a:defRPr>
            </a:pPr>
            <a:r>
              <a:t>Avoids unnecessary copying of pages that are not modified.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74519"/>
            <a:ext cx="3429000" cy="2331720"/>
          </a:xfrm>
          <a:prstGeom prst="roundRect">
            <a:avLst/>
          </a:prstGeom>
          <a:solidFill>
            <a:srgbClr val="16243D"/>
          </a:solidFill>
          <a:ln w="12700">
            <a:solidFill>
              <a:srgbClr val="374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53712" y="2020824"/>
            <a:ext cx="3099816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66E6B4"/>
                </a:solidFill>
                <a:latin typeface="Aptos"/>
              </a:defRPr>
            </a:pPr>
            <a:r>
              <a:t>PROCESS STARTUP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441448"/>
            <a:ext cx="3099816" cy="1636775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F5F8FD"/>
                </a:solidFill>
                <a:latin typeface="Aptos"/>
              </a:defRPr>
            </a:pPr>
            <a:r>
              <a:t>Can make process creation more efficient when memory pages remain shared.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74519"/>
            <a:ext cx="3429000" cy="2331720"/>
          </a:xfrm>
          <a:prstGeom prst="roundRect">
            <a:avLst/>
          </a:prstGeom>
          <a:solidFill>
            <a:srgbClr val="16243D"/>
          </a:solidFill>
          <a:ln w="12700">
            <a:solidFill>
              <a:srgbClr val="374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11312" y="2020824"/>
            <a:ext cx="3099816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FFC266"/>
                </a:solidFill>
                <a:latin typeface="Aptos"/>
              </a:defRPr>
            </a:pPr>
            <a:r>
              <a:t>EDUCATIONAL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2441448"/>
            <a:ext cx="3099816" cy="1636775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F5F8FD"/>
                </a:solidFill>
                <a:latin typeface="Aptos"/>
              </a:defRPr>
            </a:pPr>
            <a:r>
              <a:t>Helps learners understand process isolation and virtual memory.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92040"/>
            <a:ext cx="10241280" cy="5943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100" b="0" i="0">
                <a:solidFill>
                  <a:srgbClr val="AEBED4"/>
                </a:solidFill>
                <a:latin typeface="Aptos"/>
              </a:defRPr>
            </a:pPr>
            <a:r>
              <a:t>Potential impact: clearer OS learning and an illustration of a real memory-management optimization. Actual performance gains are workload- and system-dependent.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" y="6510528"/>
            <a:ext cx="978408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800" b="1" i="0">
                <a:solidFill>
                  <a:srgbClr val="AEBED4"/>
                </a:solidFill>
                <a:latin typeface="Aptos"/>
              </a:defRPr>
            </a:pPr>
            <a:r>
              <a:t>BATCH 22  |  OPERATING SYSTEMS PROJECT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34D3E6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4D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789920" cy="2377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900" b="1" i="0">
                <a:solidFill>
                  <a:srgbClr val="34D3E6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760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2800" b="1" i="0">
                <a:solidFill>
                  <a:srgbClr val="F5F8FD"/>
                </a:solidFill>
                <a:latin typeface="Aptos"/>
              </a:defRPr>
            </a:pPr>
            <a:r>
              <a:t>Share first. Copy when needed.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25296"/>
            <a:ext cx="10698480" cy="3931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200" b="0" i="0">
                <a:solidFill>
                  <a:srgbClr val="AEBED4"/>
                </a:solidFill>
                <a:latin typeface="Aptos"/>
              </a:defRPr>
            </a:pPr>
            <a:r>
              <a:t>Copy-on-Write delays copying until a write requires a private page.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66360" cy="2057400"/>
          </a:xfrm>
          <a:prstGeom prst="roundRect">
            <a:avLst/>
          </a:prstGeom>
          <a:solidFill>
            <a:srgbClr val="16243D"/>
          </a:solidFill>
          <a:ln w="12700">
            <a:solidFill>
              <a:srgbClr val="374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975104"/>
            <a:ext cx="4837176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34D3E6"/>
                </a:solidFill>
                <a:latin typeface="Aptos"/>
              </a:defRPr>
            </a:pPr>
            <a:r>
              <a:t>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395728"/>
            <a:ext cx="4837176" cy="1362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F5F8FD"/>
                </a:solidFill>
                <a:latin typeface="Aptos"/>
              </a:defRPr>
            </a:pPr>
            <a:r>
              <a:t>• Explains shared memory after fork()</a:t>
            </a:r>
          </a:p>
          <a:p>
            <a:pPr algn="l">
              <a:spcAft>
                <a:spcPts val="500"/>
              </a:spcAft>
              <a:defRPr sz="1300" b="0" i="0">
                <a:solidFill>
                  <a:srgbClr val="F5F8FD"/>
                </a:solidFill>
                <a:latin typeface="Aptos"/>
              </a:defRPr>
            </a:pPr>
            <a:r>
              <a:t>• Demonstrates process-local value changes</a:t>
            </a:r>
          </a:p>
          <a:p>
            <a:pPr algn="l">
              <a:spcAft>
                <a:spcPts val="500"/>
              </a:spcAft>
              <a:defRPr sz="1300" b="0" i="0">
                <a:solidFill>
                  <a:srgbClr val="F5F8FD"/>
                </a:solidFill>
                <a:latin typeface="Aptos"/>
              </a:defRPr>
            </a:pPr>
            <a:r>
              <a:t>• Connects the concept to Linux memory management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166360" cy="2057400"/>
          </a:xfrm>
          <a:prstGeom prst="roundRect">
            <a:avLst/>
          </a:prstGeom>
          <a:solidFill>
            <a:srgbClr val="16243D"/>
          </a:solidFill>
          <a:ln w="12700">
            <a:solidFill>
              <a:srgbClr val="374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82512" y="1975104"/>
            <a:ext cx="4837176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500" b="1" i="0">
                <a:solidFill>
                  <a:srgbClr val="FFC266"/>
                </a:solidFill>
                <a:latin typeface="Aptos"/>
              </a:defRPr>
            </a:pPr>
            <a:r>
              <a:t>BEFORE FINAL SUBMISSION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2395728"/>
            <a:ext cx="4837176" cy="1362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1300" b="0" i="0">
                <a:solidFill>
                  <a:srgbClr val="F5F8FD"/>
                </a:solidFill>
                <a:latin typeface="Aptos"/>
              </a:defRPr>
            </a:pPr>
            <a:r>
              <a:t>☐ Add the real GitHub URL</a:t>
            </a:r>
          </a:p>
          <a:p>
            <a:pPr algn="l">
              <a:spcAft>
                <a:spcPts val="500"/>
              </a:spcAft>
              <a:defRPr sz="1300" b="0" i="0">
                <a:solidFill>
                  <a:srgbClr val="F5F8FD"/>
                </a:solidFill>
                <a:latin typeface="Aptos"/>
              </a:defRPr>
            </a:pPr>
            <a:r>
              <a:t>☐ Run code and record actual results</a:t>
            </a:r>
          </a:p>
          <a:p>
            <a:pPr algn="l">
              <a:spcAft>
                <a:spcPts val="500"/>
              </a:spcAft>
              <a:defRPr sz="1300" b="0" i="0">
                <a:solidFill>
                  <a:srgbClr val="F5F8FD"/>
                </a:solidFill>
                <a:latin typeface="Aptos"/>
              </a:defRPr>
            </a:pPr>
            <a:r>
              <a:t>☐ Replace test placeholders with Pass/Fail</a:t>
            </a:r>
          </a:p>
          <a:p>
            <a:pPr algn="l">
              <a:spcAft>
                <a:spcPts val="500"/>
              </a:spcAft>
              <a:defRPr sz="1300" b="0" i="0">
                <a:solidFill>
                  <a:srgbClr val="F5F8FD"/>
                </a:solidFill>
                <a:latin typeface="Aptos"/>
              </a:defRPr>
            </a:pPr>
            <a:r>
              <a:t>☐ Verify team roles and documentation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10332720" cy="6400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2200" b="1" i="0">
                <a:solidFill>
                  <a:srgbClr val="F5F8FD"/>
                </a:solidFill>
                <a:latin typeface="Aptos"/>
              </a:defRPr>
            </a:pPr>
            <a:r>
              <a:t>THANK YOU  |  QUESTIONS?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486400"/>
            <a:ext cx="1033272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  <a:defRPr sz="1200" b="0" i="0">
                <a:solidFill>
                  <a:srgbClr val="AEBED4"/>
                </a:solidFill>
                <a:latin typeface="Aptos"/>
              </a:defRPr>
            </a:pPr>
            <a:r>
              <a:t>Project team: Navaneeth  •  Chaitanya  •  G. Karthikeya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" y="6510528"/>
            <a:ext cx="978408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  <a:defRPr sz="800" b="1" i="0">
                <a:solidFill>
                  <a:srgbClr val="AEBED4"/>
                </a:solidFill>
                <a:latin typeface="Aptos"/>
              </a:defRPr>
            </a:pPr>
            <a:r>
              <a:t>BATCH 22  |  OPERATING SYSTEMS PROJECT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500"/>
              </a:spcAft>
              <a:defRPr sz="900" b="1" i="0">
                <a:solidFill>
                  <a:srgbClr val="34D3E6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1164</Words>
  <Application>Microsoft Office PowerPoint</Application>
  <PresentationFormat>Widescreen</PresentationFormat>
  <Paragraphs>224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Copy-on-Write Memory Demonstrator — Rubric-Aligned Presentation</dc:title>
  <dc:subject>Formal Batch 22 Operating Systems project presentation aligned to all supplied assessment rubrics</dc:subject>
  <dc:creator>Batch 22</dc:creator>
  <cp:keywords>Copy-on-Write, COW, Linux, fork, memory management, project rubric</cp:keywords>
  <dc:description>generated using python-pptx</dc:description>
  <cp:lastModifiedBy>Thirunagari Saikrishna</cp:lastModifiedBy>
  <cp:revision>2</cp:revision>
  <dcterms:created xsi:type="dcterms:W3CDTF">2013-01-27T09:14:16Z</dcterms:created>
  <dcterms:modified xsi:type="dcterms:W3CDTF">2026-10-17T06:09:40Z</dcterms:modified>
  <cp:category/>
</cp:coreProperties>
</file>